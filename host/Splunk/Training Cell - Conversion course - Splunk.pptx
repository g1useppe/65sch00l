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70" r:id="rId6"/>
    <p:sldId id="272" r:id="rId7"/>
    <p:sldId id="260" r:id="rId8"/>
    <p:sldId id="275" r:id="rId9"/>
    <p:sldId id="277" r:id="rId10"/>
    <p:sldId id="279"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74955" autoAdjust="0"/>
  </p:normalViewPr>
  <p:slideViewPr>
    <p:cSldViewPr snapToGrid="0">
      <p:cViewPr varScale="1">
        <p:scale>
          <a:sx n="67" d="100"/>
          <a:sy n="67" d="100"/>
        </p:scale>
        <p:origin x="130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08D67-9536-4DD9-AEBE-83236953B92D}" type="datetimeFigureOut">
              <a:rPr lang="en-AU" smtClean="0"/>
              <a:t>15/04/2026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F461C2-7142-42A3-A2AC-57CDC5960F55}" type="slidenum">
              <a:rPr lang="en-AU" smtClean="0"/>
              <a:t>‹#›</a:t>
            </a:fld>
            <a:endParaRPr lang="en-AU"/>
          </a:p>
        </p:txBody>
      </p:sp>
    </p:spTree>
    <p:extLst>
      <p:ext uri="{BB962C8B-B14F-4D97-AF65-F5344CB8AC3E}">
        <p14:creationId xmlns:p14="http://schemas.microsoft.com/office/powerpoint/2010/main" val="3108208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a:t>
            </a:r>
          </a:p>
          <a:p>
            <a:pPr marL="0" indent="0">
              <a:buNone/>
            </a:pPr>
            <a:endParaRPr lang="en-US" dirty="0"/>
          </a:p>
          <a:p>
            <a:r>
              <a:rPr lang="en-US" dirty="0"/>
              <a:t>Splunk is widely used as a SIEM solution (Splunk Enterprise Security) to monitor security events, detect threats, and support incident response</a:t>
            </a:r>
          </a:p>
          <a:p>
            <a:endParaRPr lang="en-US" dirty="0"/>
          </a:p>
          <a:p>
            <a:r>
              <a:rPr lang="en-US" dirty="0"/>
              <a:t>Splunk provides dashboards, alerts, and reports so teams can visualize activity and spot issues in real time or from a incident response angle </a:t>
            </a:r>
            <a:endParaRPr lang="en-AU" dirty="0"/>
          </a:p>
          <a:p>
            <a:endParaRPr lang="en-AU" dirty="0"/>
          </a:p>
        </p:txBody>
      </p:sp>
      <p:sp>
        <p:nvSpPr>
          <p:cNvPr id="4" name="Slide Number Placeholder 3"/>
          <p:cNvSpPr>
            <a:spLocks noGrp="1"/>
          </p:cNvSpPr>
          <p:nvPr>
            <p:ph type="sldNum" sz="quarter" idx="5"/>
          </p:nvPr>
        </p:nvSpPr>
        <p:spPr/>
        <p:txBody>
          <a:bodyPr/>
          <a:lstStyle/>
          <a:p>
            <a:fld id="{62F461C2-7142-42A3-A2AC-57CDC5960F55}" type="slidenum">
              <a:rPr lang="en-AU" smtClean="0"/>
              <a:t>2</a:t>
            </a:fld>
            <a:endParaRPr lang="en-AU"/>
          </a:p>
        </p:txBody>
      </p:sp>
    </p:spTree>
    <p:extLst>
      <p:ext uri="{BB962C8B-B14F-4D97-AF65-F5344CB8AC3E}">
        <p14:creationId xmlns:p14="http://schemas.microsoft.com/office/powerpoint/2010/main" val="549613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a:t>
            </a:r>
          </a:p>
          <a:p>
            <a:endParaRPr lang="en-US" dirty="0"/>
          </a:p>
          <a:p>
            <a:r>
              <a:rPr lang="en-US" dirty="0"/>
              <a:t>An index in Splunk is like a giant filing cabinet where all your data is stored, organized, and made searchable. It’s a way to categorize and organize your data so that Splunk can quickly find and retrieve it when you need it.</a:t>
            </a:r>
            <a:endParaRPr lang="en-AU" dirty="0"/>
          </a:p>
        </p:txBody>
      </p:sp>
      <p:sp>
        <p:nvSpPr>
          <p:cNvPr id="4" name="Slide Number Placeholder 3"/>
          <p:cNvSpPr>
            <a:spLocks noGrp="1"/>
          </p:cNvSpPr>
          <p:nvPr>
            <p:ph type="sldNum" sz="quarter" idx="5"/>
          </p:nvPr>
        </p:nvSpPr>
        <p:spPr/>
        <p:txBody>
          <a:bodyPr/>
          <a:lstStyle/>
          <a:p>
            <a:fld id="{62F461C2-7142-42A3-A2AC-57CDC5960F55}" type="slidenum">
              <a:rPr lang="en-AU" smtClean="0"/>
              <a:t>3</a:t>
            </a:fld>
            <a:endParaRPr lang="en-AU"/>
          </a:p>
        </p:txBody>
      </p:sp>
    </p:spTree>
    <p:extLst>
      <p:ext uri="{BB962C8B-B14F-4D97-AF65-F5344CB8AC3E}">
        <p14:creationId xmlns:p14="http://schemas.microsoft.com/office/powerpoint/2010/main" val="3161803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a:t>
            </a:r>
          </a:p>
          <a:p>
            <a:endParaRPr lang="en-US" dirty="0"/>
          </a:p>
          <a:p>
            <a:r>
              <a:rPr lang="en-US" dirty="0"/>
              <a:t>Splunk allows you to create your own fields using regex</a:t>
            </a:r>
            <a:r>
              <a:rPr lang="en-AU" dirty="0"/>
              <a:t>, useful for grabbing information not already fielded or further filtering information</a:t>
            </a:r>
            <a:endParaRPr lang="en-US" dirty="0"/>
          </a:p>
        </p:txBody>
      </p:sp>
      <p:sp>
        <p:nvSpPr>
          <p:cNvPr id="4" name="Slide Number Placeholder 3"/>
          <p:cNvSpPr>
            <a:spLocks noGrp="1"/>
          </p:cNvSpPr>
          <p:nvPr>
            <p:ph type="sldNum" sz="quarter" idx="5"/>
          </p:nvPr>
        </p:nvSpPr>
        <p:spPr/>
        <p:txBody>
          <a:bodyPr/>
          <a:lstStyle/>
          <a:p>
            <a:fld id="{62F461C2-7142-42A3-A2AC-57CDC5960F55}" type="slidenum">
              <a:rPr lang="en-AU" smtClean="0"/>
              <a:t>4</a:t>
            </a:fld>
            <a:endParaRPr lang="en-AU"/>
          </a:p>
        </p:txBody>
      </p:sp>
    </p:spTree>
    <p:extLst>
      <p:ext uri="{BB962C8B-B14F-4D97-AF65-F5344CB8AC3E}">
        <p14:creationId xmlns:p14="http://schemas.microsoft.com/office/powerpoint/2010/main" val="2791111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Teacher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(index=* for demo only, use a specified index in production environment)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 field for source </a:t>
            </a:r>
            <a:r>
              <a:rPr lang="en-AU" dirty="0" err="1"/>
              <a:t>ip</a:t>
            </a:r>
            <a:r>
              <a:rPr lang="en-AU" dirty="0"/>
              <a:t> may change based on the source the events are extracted from</a:t>
            </a:r>
          </a:p>
          <a:p>
            <a:endParaRPr lang="en-AU" dirty="0"/>
          </a:p>
        </p:txBody>
      </p:sp>
      <p:sp>
        <p:nvSpPr>
          <p:cNvPr id="4" name="Slide Number Placeholder 3"/>
          <p:cNvSpPr>
            <a:spLocks noGrp="1"/>
          </p:cNvSpPr>
          <p:nvPr>
            <p:ph type="sldNum" sz="quarter" idx="5"/>
          </p:nvPr>
        </p:nvSpPr>
        <p:spPr/>
        <p:txBody>
          <a:bodyPr/>
          <a:lstStyle/>
          <a:p>
            <a:fld id="{62F461C2-7142-42A3-A2AC-57CDC5960F55}" type="slidenum">
              <a:rPr lang="en-AU" smtClean="0"/>
              <a:t>5</a:t>
            </a:fld>
            <a:endParaRPr lang="en-AU"/>
          </a:p>
        </p:txBody>
      </p:sp>
    </p:spTree>
    <p:extLst>
      <p:ext uri="{BB962C8B-B14F-4D97-AF65-F5344CB8AC3E}">
        <p14:creationId xmlns:p14="http://schemas.microsoft.com/office/powerpoint/2010/main" val="1429403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a:t>
            </a:r>
          </a:p>
          <a:p>
            <a:endParaRPr lang="en-US" dirty="0"/>
          </a:p>
          <a:p>
            <a:r>
              <a:rPr lang="en-US" dirty="0"/>
              <a:t>A way of refining search results containing only the fields you apply</a:t>
            </a:r>
            <a:endParaRPr lang="en-AU" dirty="0"/>
          </a:p>
        </p:txBody>
      </p:sp>
      <p:sp>
        <p:nvSpPr>
          <p:cNvPr id="4" name="Slide Number Placeholder 3"/>
          <p:cNvSpPr>
            <a:spLocks noGrp="1"/>
          </p:cNvSpPr>
          <p:nvPr>
            <p:ph type="sldNum" sz="quarter" idx="5"/>
          </p:nvPr>
        </p:nvSpPr>
        <p:spPr/>
        <p:txBody>
          <a:bodyPr/>
          <a:lstStyle/>
          <a:p>
            <a:fld id="{62F461C2-7142-42A3-A2AC-57CDC5960F55}" type="slidenum">
              <a:rPr lang="en-AU" smtClean="0"/>
              <a:t>6</a:t>
            </a:fld>
            <a:endParaRPr lang="en-AU"/>
          </a:p>
        </p:txBody>
      </p:sp>
    </p:spTree>
    <p:extLst>
      <p:ext uri="{BB962C8B-B14F-4D97-AF65-F5344CB8AC3E}">
        <p14:creationId xmlns:p14="http://schemas.microsoft.com/office/powerpoint/2010/main" val="10295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a:t>
            </a:r>
          </a:p>
          <a:p>
            <a:endParaRPr lang="en-US" dirty="0"/>
          </a:p>
          <a:p>
            <a:r>
              <a:rPr lang="en-US" dirty="0"/>
              <a:t>!= is the same as DOES NOT EQUAL</a:t>
            </a:r>
            <a:endParaRPr lang="en-AU" dirty="0"/>
          </a:p>
        </p:txBody>
      </p:sp>
      <p:sp>
        <p:nvSpPr>
          <p:cNvPr id="4" name="Slide Number Placeholder 3"/>
          <p:cNvSpPr>
            <a:spLocks noGrp="1"/>
          </p:cNvSpPr>
          <p:nvPr>
            <p:ph type="sldNum" sz="quarter" idx="5"/>
          </p:nvPr>
        </p:nvSpPr>
        <p:spPr/>
        <p:txBody>
          <a:bodyPr/>
          <a:lstStyle/>
          <a:p>
            <a:fld id="{62F461C2-7142-42A3-A2AC-57CDC5960F55}" type="slidenum">
              <a:rPr lang="en-AU" smtClean="0"/>
              <a:t>8</a:t>
            </a:fld>
            <a:endParaRPr lang="en-AU"/>
          </a:p>
        </p:txBody>
      </p:sp>
    </p:spTree>
    <p:extLst>
      <p:ext uri="{BB962C8B-B14F-4D97-AF65-F5344CB8AC3E}">
        <p14:creationId xmlns:p14="http://schemas.microsoft.com/office/powerpoint/2010/main" val="4032206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a:t>
            </a:r>
          </a:p>
          <a:p>
            <a:endParaRPr lang="en-US" dirty="0"/>
          </a:p>
          <a:p>
            <a:r>
              <a:rPr lang="en-US" dirty="0"/>
              <a:t>Regex is very useful especially to apply fine filtering or refine searches and can also be used directly in the command line of </a:t>
            </a:r>
            <a:r>
              <a:rPr lang="en-US" dirty="0" err="1"/>
              <a:t>splunk</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If your not strong with regex its okay AI is your best friend.</a:t>
            </a:r>
          </a:p>
          <a:p>
            <a:endParaRPr lang="en-US" dirty="0"/>
          </a:p>
          <a:p>
            <a:endParaRPr lang="en-AU" dirty="0"/>
          </a:p>
        </p:txBody>
      </p:sp>
      <p:sp>
        <p:nvSpPr>
          <p:cNvPr id="4" name="Slide Number Placeholder 3"/>
          <p:cNvSpPr>
            <a:spLocks noGrp="1"/>
          </p:cNvSpPr>
          <p:nvPr>
            <p:ph type="sldNum" sz="quarter" idx="5"/>
          </p:nvPr>
        </p:nvSpPr>
        <p:spPr/>
        <p:txBody>
          <a:bodyPr/>
          <a:lstStyle/>
          <a:p>
            <a:fld id="{62F461C2-7142-42A3-A2AC-57CDC5960F55}" type="slidenum">
              <a:rPr lang="en-AU" smtClean="0"/>
              <a:t>9</a:t>
            </a:fld>
            <a:endParaRPr lang="en-AU"/>
          </a:p>
        </p:txBody>
      </p:sp>
    </p:spTree>
    <p:extLst>
      <p:ext uri="{BB962C8B-B14F-4D97-AF65-F5344CB8AC3E}">
        <p14:creationId xmlns:p14="http://schemas.microsoft.com/office/powerpoint/2010/main" val="735261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a:t>
            </a:r>
          </a:p>
          <a:p>
            <a:endParaRPr lang="en-US" dirty="0"/>
          </a:p>
          <a:p>
            <a:r>
              <a:rPr lang="en-US" dirty="0"/>
              <a:t>A comparison baseline is commonly used as it displays and easily flags anomalies.</a:t>
            </a:r>
            <a:endParaRPr lang="en-AU" dirty="0"/>
          </a:p>
        </p:txBody>
      </p:sp>
      <p:sp>
        <p:nvSpPr>
          <p:cNvPr id="4" name="Slide Number Placeholder 3"/>
          <p:cNvSpPr>
            <a:spLocks noGrp="1"/>
          </p:cNvSpPr>
          <p:nvPr>
            <p:ph type="sldNum" sz="quarter" idx="5"/>
          </p:nvPr>
        </p:nvSpPr>
        <p:spPr/>
        <p:txBody>
          <a:bodyPr/>
          <a:lstStyle/>
          <a:p>
            <a:fld id="{62F461C2-7142-42A3-A2AC-57CDC5960F55}" type="slidenum">
              <a:rPr lang="en-AU" smtClean="0"/>
              <a:t>10</a:t>
            </a:fld>
            <a:endParaRPr lang="en-AU"/>
          </a:p>
        </p:txBody>
      </p:sp>
    </p:spTree>
    <p:extLst>
      <p:ext uri="{BB962C8B-B14F-4D97-AF65-F5344CB8AC3E}">
        <p14:creationId xmlns:p14="http://schemas.microsoft.com/office/powerpoint/2010/main" val="1891774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a:t>
            </a:r>
          </a:p>
          <a:p>
            <a:endParaRPr lang="en-US" dirty="0"/>
          </a:p>
          <a:p>
            <a:r>
              <a:rPr lang="en-US" dirty="0"/>
              <a:t>Baseline dashboards are primarily used to detect what is and isn’t normal.</a:t>
            </a:r>
          </a:p>
          <a:p>
            <a:endParaRPr lang="en-US" dirty="0"/>
          </a:p>
          <a:p>
            <a:r>
              <a:rPr lang="en-US" dirty="0"/>
              <a:t>Drilldown dashboards on important data for further analysis and are very useful in finding artifacts after initial malicious behavior has been detected</a:t>
            </a:r>
          </a:p>
          <a:p>
            <a:endParaRPr lang="en-US" dirty="0"/>
          </a:p>
          <a:p>
            <a:r>
              <a:rPr lang="en-US" dirty="0"/>
              <a:t>Alerts style dashboard are very useful for live or ongoing monitoring.</a:t>
            </a:r>
            <a:endParaRPr lang="en-AU" dirty="0"/>
          </a:p>
        </p:txBody>
      </p:sp>
      <p:sp>
        <p:nvSpPr>
          <p:cNvPr id="4" name="Slide Number Placeholder 3"/>
          <p:cNvSpPr>
            <a:spLocks noGrp="1"/>
          </p:cNvSpPr>
          <p:nvPr>
            <p:ph type="sldNum" sz="quarter" idx="5"/>
          </p:nvPr>
        </p:nvSpPr>
        <p:spPr/>
        <p:txBody>
          <a:bodyPr/>
          <a:lstStyle/>
          <a:p>
            <a:fld id="{62F461C2-7142-42A3-A2AC-57CDC5960F55}" type="slidenum">
              <a:rPr lang="en-AU" smtClean="0"/>
              <a:t>11</a:t>
            </a:fld>
            <a:endParaRPr lang="en-AU"/>
          </a:p>
        </p:txBody>
      </p:sp>
    </p:spTree>
    <p:extLst>
      <p:ext uri="{BB962C8B-B14F-4D97-AF65-F5344CB8AC3E}">
        <p14:creationId xmlns:p14="http://schemas.microsoft.com/office/powerpoint/2010/main" val="2402353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EC181-9E1A-041C-A92C-D4B6B3F1C5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4A204EF1-3D05-4E1B-2BF1-149F9B3467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1056F480-7EBC-74B1-8A47-C46CEE768FC5}"/>
              </a:ext>
            </a:extLst>
          </p:cNvPr>
          <p:cNvSpPr>
            <a:spLocks noGrp="1"/>
          </p:cNvSpPr>
          <p:nvPr>
            <p:ph type="dt" sz="half" idx="10"/>
          </p:nvPr>
        </p:nvSpPr>
        <p:spPr/>
        <p:txBody>
          <a:bodyPr/>
          <a:lstStyle/>
          <a:p>
            <a:fld id="{266447FA-567A-498F-ABE1-423C63A16A7D}" type="datetimeFigureOut">
              <a:rPr lang="en-AU" smtClean="0"/>
              <a:t>15/04/2026</a:t>
            </a:fld>
            <a:endParaRPr lang="en-AU"/>
          </a:p>
        </p:txBody>
      </p:sp>
      <p:sp>
        <p:nvSpPr>
          <p:cNvPr id="5" name="Footer Placeholder 4">
            <a:extLst>
              <a:ext uri="{FF2B5EF4-FFF2-40B4-BE49-F238E27FC236}">
                <a16:creationId xmlns:a16="http://schemas.microsoft.com/office/drawing/2014/main" id="{031ADD8B-A3BA-5067-5C0D-CC4B4AAB162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0120A3A-03D6-BF46-AF05-E91D9393C063}"/>
              </a:ext>
            </a:extLst>
          </p:cNvPr>
          <p:cNvSpPr>
            <a:spLocks noGrp="1"/>
          </p:cNvSpPr>
          <p:nvPr>
            <p:ph type="sldNum" sz="quarter" idx="12"/>
          </p:nvPr>
        </p:nvSpPr>
        <p:spPr/>
        <p:txBody>
          <a:bodyPr/>
          <a:lstStyle/>
          <a:p>
            <a:fld id="{9DA7584A-0377-48B3-A94C-57B9FEB35B99}" type="slidenum">
              <a:rPr lang="en-AU" smtClean="0"/>
              <a:t>‹#›</a:t>
            </a:fld>
            <a:endParaRPr lang="en-AU"/>
          </a:p>
        </p:txBody>
      </p:sp>
    </p:spTree>
    <p:extLst>
      <p:ext uri="{BB962C8B-B14F-4D97-AF65-F5344CB8AC3E}">
        <p14:creationId xmlns:p14="http://schemas.microsoft.com/office/powerpoint/2010/main" val="549900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96739-3400-896D-214E-311E396B434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DC980A2-19F1-24DC-BC46-FA9A0F70F4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A260FAC-327A-74A1-EC63-3D2E4991BAC1}"/>
              </a:ext>
            </a:extLst>
          </p:cNvPr>
          <p:cNvSpPr>
            <a:spLocks noGrp="1"/>
          </p:cNvSpPr>
          <p:nvPr>
            <p:ph type="dt" sz="half" idx="10"/>
          </p:nvPr>
        </p:nvSpPr>
        <p:spPr/>
        <p:txBody>
          <a:bodyPr/>
          <a:lstStyle/>
          <a:p>
            <a:fld id="{266447FA-567A-498F-ABE1-423C63A16A7D}" type="datetimeFigureOut">
              <a:rPr lang="en-AU" smtClean="0"/>
              <a:t>15/04/2026</a:t>
            </a:fld>
            <a:endParaRPr lang="en-AU"/>
          </a:p>
        </p:txBody>
      </p:sp>
      <p:sp>
        <p:nvSpPr>
          <p:cNvPr id="5" name="Footer Placeholder 4">
            <a:extLst>
              <a:ext uri="{FF2B5EF4-FFF2-40B4-BE49-F238E27FC236}">
                <a16:creationId xmlns:a16="http://schemas.microsoft.com/office/drawing/2014/main" id="{2AE379C3-FD18-41BA-88D9-A37F9546388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92D8D40-1C33-60BF-B6F7-594F6F129C73}"/>
              </a:ext>
            </a:extLst>
          </p:cNvPr>
          <p:cNvSpPr>
            <a:spLocks noGrp="1"/>
          </p:cNvSpPr>
          <p:nvPr>
            <p:ph type="sldNum" sz="quarter" idx="12"/>
          </p:nvPr>
        </p:nvSpPr>
        <p:spPr/>
        <p:txBody>
          <a:bodyPr/>
          <a:lstStyle/>
          <a:p>
            <a:fld id="{9DA7584A-0377-48B3-A94C-57B9FEB35B99}" type="slidenum">
              <a:rPr lang="en-AU" smtClean="0"/>
              <a:t>‹#›</a:t>
            </a:fld>
            <a:endParaRPr lang="en-AU"/>
          </a:p>
        </p:txBody>
      </p:sp>
    </p:spTree>
    <p:extLst>
      <p:ext uri="{BB962C8B-B14F-4D97-AF65-F5344CB8AC3E}">
        <p14:creationId xmlns:p14="http://schemas.microsoft.com/office/powerpoint/2010/main" val="2340279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2F92C-E81E-1B93-2E93-72BA433CCF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1FE61D5-2ED5-C437-1B0C-D4CAE18396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808AB9-CACA-3C66-0491-F33BFF2465E9}"/>
              </a:ext>
            </a:extLst>
          </p:cNvPr>
          <p:cNvSpPr>
            <a:spLocks noGrp="1"/>
          </p:cNvSpPr>
          <p:nvPr>
            <p:ph type="dt" sz="half" idx="10"/>
          </p:nvPr>
        </p:nvSpPr>
        <p:spPr/>
        <p:txBody>
          <a:bodyPr/>
          <a:lstStyle/>
          <a:p>
            <a:fld id="{266447FA-567A-498F-ABE1-423C63A16A7D}" type="datetimeFigureOut">
              <a:rPr lang="en-AU" smtClean="0"/>
              <a:t>15/04/2026</a:t>
            </a:fld>
            <a:endParaRPr lang="en-AU"/>
          </a:p>
        </p:txBody>
      </p:sp>
      <p:sp>
        <p:nvSpPr>
          <p:cNvPr id="5" name="Footer Placeholder 4">
            <a:extLst>
              <a:ext uri="{FF2B5EF4-FFF2-40B4-BE49-F238E27FC236}">
                <a16:creationId xmlns:a16="http://schemas.microsoft.com/office/drawing/2014/main" id="{3DB45F8A-F094-835D-7453-236F4F05AD5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B6FC704-1C69-17FD-16E5-F2C7CAC7BD8A}"/>
              </a:ext>
            </a:extLst>
          </p:cNvPr>
          <p:cNvSpPr>
            <a:spLocks noGrp="1"/>
          </p:cNvSpPr>
          <p:nvPr>
            <p:ph type="sldNum" sz="quarter" idx="12"/>
          </p:nvPr>
        </p:nvSpPr>
        <p:spPr/>
        <p:txBody>
          <a:bodyPr/>
          <a:lstStyle/>
          <a:p>
            <a:fld id="{9DA7584A-0377-48B3-A94C-57B9FEB35B99}" type="slidenum">
              <a:rPr lang="en-AU" smtClean="0"/>
              <a:t>‹#›</a:t>
            </a:fld>
            <a:endParaRPr lang="en-AU"/>
          </a:p>
        </p:txBody>
      </p:sp>
    </p:spTree>
    <p:extLst>
      <p:ext uri="{BB962C8B-B14F-4D97-AF65-F5344CB8AC3E}">
        <p14:creationId xmlns:p14="http://schemas.microsoft.com/office/powerpoint/2010/main" val="2316465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D0CE-7524-545E-A6C5-DF09CD1BA6A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DAAB3544-C4A0-1CF9-00C6-1DB3B3DEC1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9DA179E7-8185-5BEA-1FB1-5447F06FF7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8E7D0D3-7F2C-55C1-BD93-5E90E410BC9E}"/>
              </a:ext>
            </a:extLst>
          </p:cNvPr>
          <p:cNvSpPr>
            <a:spLocks noGrp="1"/>
          </p:cNvSpPr>
          <p:nvPr>
            <p:ph type="dt" sz="half" idx="10"/>
          </p:nvPr>
        </p:nvSpPr>
        <p:spPr/>
        <p:txBody>
          <a:bodyPr/>
          <a:lstStyle/>
          <a:p>
            <a:fld id="{266447FA-567A-498F-ABE1-423C63A16A7D}" type="datetimeFigureOut">
              <a:rPr lang="en-AU" smtClean="0"/>
              <a:t>15/04/2026</a:t>
            </a:fld>
            <a:endParaRPr lang="en-AU"/>
          </a:p>
        </p:txBody>
      </p:sp>
      <p:sp>
        <p:nvSpPr>
          <p:cNvPr id="6" name="Footer Placeholder 5">
            <a:extLst>
              <a:ext uri="{FF2B5EF4-FFF2-40B4-BE49-F238E27FC236}">
                <a16:creationId xmlns:a16="http://schemas.microsoft.com/office/drawing/2014/main" id="{B8727F9F-40C7-8795-CFB1-3C1E2780BC6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B0FCCC4-8EA8-EDF9-A28D-397040BC9F6E}"/>
              </a:ext>
            </a:extLst>
          </p:cNvPr>
          <p:cNvSpPr>
            <a:spLocks noGrp="1"/>
          </p:cNvSpPr>
          <p:nvPr>
            <p:ph type="sldNum" sz="quarter" idx="12"/>
          </p:nvPr>
        </p:nvSpPr>
        <p:spPr/>
        <p:txBody>
          <a:bodyPr/>
          <a:lstStyle/>
          <a:p>
            <a:fld id="{9DA7584A-0377-48B3-A94C-57B9FEB35B99}" type="slidenum">
              <a:rPr lang="en-AU" smtClean="0"/>
              <a:t>‹#›</a:t>
            </a:fld>
            <a:endParaRPr lang="en-AU"/>
          </a:p>
        </p:txBody>
      </p:sp>
    </p:spTree>
    <p:extLst>
      <p:ext uri="{BB962C8B-B14F-4D97-AF65-F5344CB8AC3E}">
        <p14:creationId xmlns:p14="http://schemas.microsoft.com/office/powerpoint/2010/main" val="322445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191CB-98F5-5E09-A758-C05AFBA7BD82}"/>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8504746-6E00-A055-3E1D-6B7E4A02D0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8631DB-E119-48F6-CF84-5DD8DAFC46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70E551C-97F3-28B8-CD7D-2F059C1E9B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B2D273-BD72-2E89-6665-8FB0AB8474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A208AA9-9A32-6665-892A-42F1C86C13D2}"/>
              </a:ext>
            </a:extLst>
          </p:cNvPr>
          <p:cNvSpPr>
            <a:spLocks noGrp="1"/>
          </p:cNvSpPr>
          <p:nvPr>
            <p:ph type="dt" sz="half" idx="10"/>
          </p:nvPr>
        </p:nvSpPr>
        <p:spPr/>
        <p:txBody>
          <a:bodyPr/>
          <a:lstStyle/>
          <a:p>
            <a:fld id="{266447FA-567A-498F-ABE1-423C63A16A7D}" type="datetimeFigureOut">
              <a:rPr lang="en-AU" smtClean="0"/>
              <a:t>15/04/2026</a:t>
            </a:fld>
            <a:endParaRPr lang="en-AU"/>
          </a:p>
        </p:txBody>
      </p:sp>
      <p:sp>
        <p:nvSpPr>
          <p:cNvPr id="8" name="Footer Placeholder 7">
            <a:extLst>
              <a:ext uri="{FF2B5EF4-FFF2-40B4-BE49-F238E27FC236}">
                <a16:creationId xmlns:a16="http://schemas.microsoft.com/office/drawing/2014/main" id="{D8C213C8-2E40-3B0E-1372-1B54C8DE7D8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AFF58BF-A76A-446B-4A15-50EAFA02C522}"/>
              </a:ext>
            </a:extLst>
          </p:cNvPr>
          <p:cNvSpPr>
            <a:spLocks noGrp="1"/>
          </p:cNvSpPr>
          <p:nvPr>
            <p:ph type="sldNum" sz="quarter" idx="12"/>
          </p:nvPr>
        </p:nvSpPr>
        <p:spPr/>
        <p:txBody>
          <a:bodyPr/>
          <a:lstStyle/>
          <a:p>
            <a:fld id="{9DA7584A-0377-48B3-A94C-57B9FEB35B99}" type="slidenum">
              <a:rPr lang="en-AU" smtClean="0"/>
              <a:t>‹#›</a:t>
            </a:fld>
            <a:endParaRPr lang="en-AU"/>
          </a:p>
        </p:txBody>
      </p:sp>
    </p:spTree>
    <p:extLst>
      <p:ext uri="{BB962C8B-B14F-4D97-AF65-F5344CB8AC3E}">
        <p14:creationId xmlns:p14="http://schemas.microsoft.com/office/powerpoint/2010/main" val="2163921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61109-0E63-845A-F515-83870D070A82}"/>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F3527F35-D34D-7F25-AC6A-DF62C35BC229}"/>
              </a:ext>
            </a:extLst>
          </p:cNvPr>
          <p:cNvSpPr>
            <a:spLocks noGrp="1"/>
          </p:cNvSpPr>
          <p:nvPr>
            <p:ph type="dt" sz="half" idx="10"/>
          </p:nvPr>
        </p:nvSpPr>
        <p:spPr/>
        <p:txBody>
          <a:bodyPr/>
          <a:lstStyle/>
          <a:p>
            <a:fld id="{266447FA-567A-498F-ABE1-423C63A16A7D}" type="datetimeFigureOut">
              <a:rPr lang="en-AU" smtClean="0"/>
              <a:t>15/04/2026</a:t>
            </a:fld>
            <a:endParaRPr lang="en-AU"/>
          </a:p>
        </p:txBody>
      </p:sp>
      <p:sp>
        <p:nvSpPr>
          <p:cNvPr id="4" name="Footer Placeholder 3">
            <a:extLst>
              <a:ext uri="{FF2B5EF4-FFF2-40B4-BE49-F238E27FC236}">
                <a16:creationId xmlns:a16="http://schemas.microsoft.com/office/drawing/2014/main" id="{86A8CA9A-D837-5334-2C1D-5C413AD413C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50BF10-A3B1-5BA8-B81D-3282CDE25B9B}"/>
              </a:ext>
            </a:extLst>
          </p:cNvPr>
          <p:cNvSpPr>
            <a:spLocks noGrp="1"/>
          </p:cNvSpPr>
          <p:nvPr>
            <p:ph type="sldNum" sz="quarter" idx="12"/>
          </p:nvPr>
        </p:nvSpPr>
        <p:spPr/>
        <p:txBody>
          <a:bodyPr/>
          <a:lstStyle/>
          <a:p>
            <a:fld id="{9DA7584A-0377-48B3-A94C-57B9FEB35B99}" type="slidenum">
              <a:rPr lang="en-AU" smtClean="0"/>
              <a:t>‹#›</a:t>
            </a:fld>
            <a:endParaRPr lang="en-AU"/>
          </a:p>
        </p:txBody>
      </p:sp>
    </p:spTree>
    <p:extLst>
      <p:ext uri="{BB962C8B-B14F-4D97-AF65-F5344CB8AC3E}">
        <p14:creationId xmlns:p14="http://schemas.microsoft.com/office/powerpoint/2010/main" val="995129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5D8306-FC0A-FF85-F11A-9347E2D0221D}"/>
              </a:ext>
            </a:extLst>
          </p:cNvPr>
          <p:cNvSpPr>
            <a:spLocks noGrp="1"/>
          </p:cNvSpPr>
          <p:nvPr>
            <p:ph type="dt" sz="half" idx="10"/>
          </p:nvPr>
        </p:nvSpPr>
        <p:spPr/>
        <p:txBody>
          <a:bodyPr/>
          <a:lstStyle/>
          <a:p>
            <a:fld id="{266447FA-567A-498F-ABE1-423C63A16A7D}" type="datetimeFigureOut">
              <a:rPr lang="en-AU" smtClean="0"/>
              <a:t>15/04/2026</a:t>
            </a:fld>
            <a:endParaRPr lang="en-AU"/>
          </a:p>
        </p:txBody>
      </p:sp>
      <p:sp>
        <p:nvSpPr>
          <p:cNvPr id="3" name="Footer Placeholder 2">
            <a:extLst>
              <a:ext uri="{FF2B5EF4-FFF2-40B4-BE49-F238E27FC236}">
                <a16:creationId xmlns:a16="http://schemas.microsoft.com/office/drawing/2014/main" id="{FB886B3B-CE94-ADA8-D8A7-FED9F574BFF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B936B1EF-42B2-3142-8A25-9EB44B018F1D}"/>
              </a:ext>
            </a:extLst>
          </p:cNvPr>
          <p:cNvSpPr>
            <a:spLocks noGrp="1"/>
          </p:cNvSpPr>
          <p:nvPr>
            <p:ph type="sldNum" sz="quarter" idx="12"/>
          </p:nvPr>
        </p:nvSpPr>
        <p:spPr/>
        <p:txBody>
          <a:bodyPr/>
          <a:lstStyle/>
          <a:p>
            <a:fld id="{9DA7584A-0377-48B3-A94C-57B9FEB35B99}" type="slidenum">
              <a:rPr lang="en-AU" smtClean="0"/>
              <a:t>‹#›</a:t>
            </a:fld>
            <a:endParaRPr lang="en-AU"/>
          </a:p>
        </p:txBody>
      </p:sp>
    </p:spTree>
    <p:extLst>
      <p:ext uri="{BB962C8B-B14F-4D97-AF65-F5344CB8AC3E}">
        <p14:creationId xmlns:p14="http://schemas.microsoft.com/office/powerpoint/2010/main" val="1592659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FF801-775F-BB80-DA75-0FAE9B2553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72E2C0C-0280-D592-5FA1-7E2497830A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ED53C099-919E-277B-7E91-568EF7BE29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35D703-4A3E-6949-0F30-23218C18BDC6}"/>
              </a:ext>
            </a:extLst>
          </p:cNvPr>
          <p:cNvSpPr>
            <a:spLocks noGrp="1"/>
          </p:cNvSpPr>
          <p:nvPr>
            <p:ph type="dt" sz="half" idx="10"/>
          </p:nvPr>
        </p:nvSpPr>
        <p:spPr/>
        <p:txBody>
          <a:bodyPr/>
          <a:lstStyle/>
          <a:p>
            <a:fld id="{266447FA-567A-498F-ABE1-423C63A16A7D}" type="datetimeFigureOut">
              <a:rPr lang="en-AU" smtClean="0"/>
              <a:t>15/04/2026</a:t>
            </a:fld>
            <a:endParaRPr lang="en-AU"/>
          </a:p>
        </p:txBody>
      </p:sp>
      <p:sp>
        <p:nvSpPr>
          <p:cNvPr id="6" name="Footer Placeholder 5">
            <a:extLst>
              <a:ext uri="{FF2B5EF4-FFF2-40B4-BE49-F238E27FC236}">
                <a16:creationId xmlns:a16="http://schemas.microsoft.com/office/drawing/2014/main" id="{C18E2648-5849-C2AC-D840-1377F14E6F0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05B2B95-C592-9F42-E765-CE15F2FA9958}"/>
              </a:ext>
            </a:extLst>
          </p:cNvPr>
          <p:cNvSpPr>
            <a:spLocks noGrp="1"/>
          </p:cNvSpPr>
          <p:nvPr>
            <p:ph type="sldNum" sz="quarter" idx="12"/>
          </p:nvPr>
        </p:nvSpPr>
        <p:spPr/>
        <p:txBody>
          <a:bodyPr/>
          <a:lstStyle/>
          <a:p>
            <a:fld id="{9DA7584A-0377-48B3-A94C-57B9FEB35B99}" type="slidenum">
              <a:rPr lang="en-AU" smtClean="0"/>
              <a:t>‹#›</a:t>
            </a:fld>
            <a:endParaRPr lang="en-AU"/>
          </a:p>
        </p:txBody>
      </p:sp>
    </p:spTree>
    <p:extLst>
      <p:ext uri="{BB962C8B-B14F-4D97-AF65-F5344CB8AC3E}">
        <p14:creationId xmlns:p14="http://schemas.microsoft.com/office/powerpoint/2010/main" val="1936047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15522-F513-AD03-E9B0-3596E88F14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963FED3-15EA-BD42-D023-064E35F757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B232912-1552-4430-7D3C-EC3246A261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89065E-A628-71E6-9CDB-80D3BCB5580A}"/>
              </a:ext>
            </a:extLst>
          </p:cNvPr>
          <p:cNvSpPr>
            <a:spLocks noGrp="1"/>
          </p:cNvSpPr>
          <p:nvPr>
            <p:ph type="dt" sz="half" idx="10"/>
          </p:nvPr>
        </p:nvSpPr>
        <p:spPr/>
        <p:txBody>
          <a:bodyPr/>
          <a:lstStyle/>
          <a:p>
            <a:fld id="{266447FA-567A-498F-ABE1-423C63A16A7D}" type="datetimeFigureOut">
              <a:rPr lang="en-AU" smtClean="0"/>
              <a:t>15/04/2026</a:t>
            </a:fld>
            <a:endParaRPr lang="en-AU"/>
          </a:p>
        </p:txBody>
      </p:sp>
      <p:sp>
        <p:nvSpPr>
          <p:cNvPr id="6" name="Footer Placeholder 5">
            <a:extLst>
              <a:ext uri="{FF2B5EF4-FFF2-40B4-BE49-F238E27FC236}">
                <a16:creationId xmlns:a16="http://schemas.microsoft.com/office/drawing/2014/main" id="{BB4D6EFC-F7C2-5256-0836-BDECB70981A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E5C4B6C-36AA-362B-CC36-70EEE5BB3A1D}"/>
              </a:ext>
            </a:extLst>
          </p:cNvPr>
          <p:cNvSpPr>
            <a:spLocks noGrp="1"/>
          </p:cNvSpPr>
          <p:nvPr>
            <p:ph type="sldNum" sz="quarter" idx="12"/>
          </p:nvPr>
        </p:nvSpPr>
        <p:spPr/>
        <p:txBody>
          <a:bodyPr/>
          <a:lstStyle/>
          <a:p>
            <a:fld id="{9DA7584A-0377-48B3-A94C-57B9FEB35B99}" type="slidenum">
              <a:rPr lang="en-AU" smtClean="0"/>
              <a:t>‹#›</a:t>
            </a:fld>
            <a:endParaRPr lang="en-AU"/>
          </a:p>
        </p:txBody>
      </p:sp>
    </p:spTree>
    <p:extLst>
      <p:ext uri="{BB962C8B-B14F-4D97-AF65-F5344CB8AC3E}">
        <p14:creationId xmlns:p14="http://schemas.microsoft.com/office/powerpoint/2010/main" val="1482454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E2701-AC29-F8A5-64D1-B4C467FCA7F3}"/>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015B78D-B739-0056-ABE0-D83405A377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3942251-ABD4-B3BE-98E9-9D311DA7191D}"/>
              </a:ext>
            </a:extLst>
          </p:cNvPr>
          <p:cNvSpPr>
            <a:spLocks noGrp="1"/>
          </p:cNvSpPr>
          <p:nvPr>
            <p:ph type="dt" sz="half" idx="10"/>
          </p:nvPr>
        </p:nvSpPr>
        <p:spPr/>
        <p:txBody>
          <a:bodyPr/>
          <a:lstStyle/>
          <a:p>
            <a:fld id="{266447FA-567A-498F-ABE1-423C63A16A7D}" type="datetimeFigureOut">
              <a:rPr lang="en-AU" smtClean="0"/>
              <a:t>15/04/2026</a:t>
            </a:fld>
            <a:endParaRPr lang="en-AU"/>
          </a:p>
        </p:txBody>
      </p:sp>
      <p:sp>
        <p:nvSpPr>
          <p:cNvPr id="5" name="Footer Placeholder 4">
            <a:extLst>
              <a:ext uri="{FF2B5EF4-FFF2-40B4-BE49-F238E27FC236}">
                <a16:creationId xmlns:a16="http://schemas.microsoft.com/office/drawing/2014/main" id="{5EEFB054-28D2-3696-0231-77DC94F380B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426F186-BB3B-9121-6E2F-1460CDEC33A6}"/>
              </a:ext>
            </a:extLst>
          </p:cNvPr>
          <p:cNvSpPr>
            <a:spLocks noGrp="1"/>
          </p:cNvSpPr>
          <p:nvPr>
            <p:ph type="sldNum" sz="quarter" idx="12"/>
          </p:nvPr>
        </p:nvSpPr>
        <p:spPr/>
        <p:txBody>
          <a:bodyPr/>
          <a:lstStyle/>
          <a:p>
            <a:fld id="{9DA7584A-0377-48B3-A94C-57B9FEB35B99}" type="slidenum">
              <a:rPr lang="en-AU" smtClean="0"/>
              <a:t>‹#›</a:t>
            </a:fld>
            <a:endParaRPr lang="en-AU"/>
          </a:p>
        </p:txBody>
      </p:sp>
    </p:spTree>
    <p:extLst>
      <p:ext uri="{BB962C8B-B14F-4D97-AF65-F5344CB8AC3E}">
        <p14:creationId xmlns:p14="http://schemas.microsoft.com/office/powerpoint/2010/main" val="600837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47AFF6-940D-EABA-9FFA-23E4C6F6B3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B7F593C-2E6C-EC64-CAB6-7221189A48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BFC9D12-7BCA-9283-1385-99324C76AB39}"/>
              </a:ext>
            </a:extLst>
          </p:cNvPr>
          <p:cNvSpPr>
            <a:spLocks noGrp="1"/>
          </p:cNvSpPr>
          <p:nvPr>
            <p:ph type="dt" sz="half" idx="10"/>
          </p:nvPr>
        </p:nvSpPr>
        <p:spPr/>
        <p:txBody>
          <a:bodyPr/>
          <a:lstStyle/>
          <a:p>
            <a:fld id="{266447FA-567A-498F-ABE1-423C63A16A7D}" type="datetimeFigureOut">
              <a:rPr lang="en-AU" smtClean="0"/>
              <a:t>15/04/2026</a:t>
            </a:fld>
            <a:endParaRPr lang="en-AU"/>
          </a:p>
        </p:txBody>
      </p:sp>
      <p:sp>
        <p:nvSpPr>
          <p:cNvPr id="5" name="Footer Placeholder 4">
            <a:extLst>
              <a:ext uri="{FF2B5EF4-FFF2-40B4-BE49-F238E27FC236}">
                <a16:creationId xmlns:a16="http://schemas.microsoft.com/office/drawing/2014/main" id="{34EADCED-DAFB-50FE-5B50-9B1C53D238B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B8EEBD-E93D-F627-49F7-F680A9050738}"/>
              </a:ext>
            </a:extLst>
          </p:cNvPr>
          <p:cNvSpPr>
            <a:spLocks noGrp="1"/>
          </p:cNvSpPr>
          <p:nvPr>
            <p:ph type="sldNum" sz="quarter" idx="12"/>
          </p:nvPr>
        </p:nvSpPr>
        <p:spPr/>
        <p:txBody>
          <a:bodyPr/>
          <a:lstStyle/>
          <a:p>
            <a:fld id="{9DA7584A-0377-48B3-A94C-57B9FEB35B99}" type="slidenum">
              <a:rPr lang="en-AU" smtClean="0"/>
              <a:t>‹#›</a:t>
            </a:fld>
            <a:endParaRPr lang="en-AU"/>
          </a:p>
        </p:txBody>
      </p:sp>
    </p:spTree>
    <p:extLst>
      <p:ext uri="{BB962C8B-B14F-4D97-AF65-F5344CB8AC3E}">
        <p14:creationId xmlns:p14="http://schemas.microsoft.com/office/powerpoint/2010/main" val="3152279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7B1611-1514-972D-B192-6F17CEDDFD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EBC28BE-B298-AF14-3CD4-4F19220DF2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F49552A-FAA6-F377-B0F3-F9DA2BB073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6447FA-567A-498F-ABE1-423C63A16A7D}" type="datetimeFigureOut">
              <a:rPr lang="en-AU" smtClean="0"/>
              <a:t>15/04/2026</a:t>
            </a:fld>
            <a:endParaRPr lang="en-AU"/>
          </a:p>
        </p:txBody>
      </p:sp>
      <p:sp>
        <p:nvSpPr>
          <p:cNvPr id="5" name="Footer Placeholder 4">
            <a:extLst>
              <a:ext uri="{FF2B5EF4-FFF2-40B4-BE49-F238E27FC236}">
                <a16:creationId xmlns:a16="http://schemas.microsoft.com/office/drawing/2014/main" id="{B754AE02-0EC7-25B7-C98C-B176E98C5D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82FEC6-A4B4-C8AE-BC66-B84FFD78EA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A7584A-0377-48B3-A94C-57B9FEB35B99}" type="slidenum">
              <a:rPr lang="en-AU" smtClean="0"/>
              <a:t>‹#›</a:t>
            </a:fld>
            <a:endParaRPr lang="en-AU"/>
          </a:p>
        </p:txBody>
      </p:sp>
    </p:spTree>
    <p:extLst>
      <p:ext uri="{BB962C8B-B14F-4D97-AF65-F5344CB8AC3E}">
        <p14:creationId xmlns:p14="http://schemas.microsoft.com/office/powerpoint/2010/main" val="3532457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B080E-1B0B-5CA5-D104-0DA73E60DA31}"/>
              </a:ext>
            </a:extLst>
          </p:cNvPr>
          <p:cNvSpPr>
            <a:spLocks noGrp="1"/>
          </p:cNvSpPr>
          <p:nvPr>
            <p:ph type="ctrTitle"/>
          </p:nvPr>
        </p:nvSpPr>
        <p:spPr/>
        <p:txBody>
          <a:bodyPr/>
          <a:lstStyle/>
          <a:p>
            <a:r>
              <a:rPr lang="en-US" dirty="0"/>
              <a:t>Splunk</a:t>
            </a:r>
            <a:endParaRPr lang="en-AU" dirty="0"/>
          </a:p>
        </p:txBody>
      </p:sp>
      <p:sp>
        <p:nvSpPr>
          <p:cNvPr id="3" name="Subtitle 2">
            <a:extLst>
              <a:ext uri="{FF2B5EF4-FFF2-40B4-BE49-F238E27FC236}">
                <a16:creationId xmlns:a16="http://schemas.microsoft.com/office/drawing/2014/main" id="{23BC0A2E-F295-6983-A046-6B41091F8B73}"/>
              </a:ext>
            </a:extLst>
          </p:cNvPr>
          <p:cNvSpPr>
            <a:spLocks noGrp="1"/>
          </p:cNvSpPr>
          <p:nvPr>
            <p:ph type="subTitle" idx="1"/>
          </p:nvPr>
        </p:nvSpPr>
        <p:spPr/>
        <p:txBody>
          <a:bodyPr/>
          <a:lstStyle/>
          <a:p>
            <a:endParaRPr lang="en-AU" dirty="0"/>
          </a:p>
        </p:txBody>
      </p:sp>
    </p:spTree>
    <p:extLst>
      <p:ext uri="{BB962C8B-B14F-4D97-AF65-F5344CB8AC3E}">
        <p14:creationId xmlns:p14="http://schemas.microsoft.com/office/powerpoint/2010/main" val="746979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DF453-F5AF-B3FF-7BE9-BA3888FEE2CC}"/>
              </a:ext>
            </a:extLst>
          </p:cNvPr>
          <p:cNvSpPr>
            <a:spLocks noGrp="1"/>
          </p:cNvSpPr>
          <p:nvPr>
            <p:ph type="title"/>
          </p:nvPr>
        </p:nvSpPr>
        <p:spPr/>
        <p:txBody>
          <a:bodyPr/>
          <a:lstStyle/>
          <a:p>
            <a:r>
              <a:rPr lang="en-US" dirty="0"/>
              <a:t>What is Splunk</a:t>
            </a:r>
            <a:endParaRPr lang="en-AU" dirty="0"/>
          </a:p>
        </p:txBody>
      </p:sp>
      <p:sp>
        <p:nvSpPr>
          <p:cNvPr id="3" name="Content Placeholder 2">
            <a:extLst>
              <a:ext uri="{FF2B5EF4-FFF2-40B4-BE49-F238E27FC236}">
                <a16:creationId xmlns:a16="http://schemas.microsoft.com/office/drawing/2014/main" id="{E239BE37-D80B-3AB8-AEC5-E009845586B1}"/>
              </a:ext>
            </a:extLst>
          </p:cNvPr>
          <p:cNvSpPr>
            <a:spLocks noGrp="1"/>
          </p:cNvSpPr>
          <p:nvPr>
            <p:ph idx="1"/>
          </p:nvPr>
        </p:nvSpPr>
        <p:spPr/>
        <p:txBody>
          <a:bodyPr>
            <a:normAutofit/>
          </a:bodyPr>
          <a:lstStyle/>
          <a:p>
            <a:r>
              <a:rPr lang="en-US" dirty="0"/>
              <a:t>Splunk is a platform that collects, indexes, and searches data pulled from a network.</a:t>
            </a:r>
          </a:p>
          <a:p>
            <a:endParaRPr lang="en-AU" dirty="0"/>
          </a:p>
        </p:txBody>
      </p:sp>
    </p:spTree>
    <p:extLst>
      <p:ext uri="{BB962C8B-B14F-4D97-AF65-F5344CB8AC3E}">
        <p14:creationId xmlns:p14="http://schemas.microsoft.com/office/powerpoint/2010/main" val="1867476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A3B04-537A-49EE-C276-15FF4919FD74}"/>
              </a:ext>
            </a:extLst>
          </p:cNvPr>
          <p:cNvSpPr>
            <a:spLocks noGrp="1"/>
          </p:cNvSpPr>
          <p:nvPr>
            <p:ph type="title"/>
          </p:nvPr>
        </p:nvSpPr>
        <p:spPr/>
        <p:txBody>
          <a:bodyPr/>
          <a:lstStyle/>
          <a:p>
            <a:r>
              <a:rPr lang="en-US" dirty="0"/>
              <a:t>Searching in Splunk </a:t>
            </a:r>
            <a:endParaRPr lang="en-AU" dirty="0"/>
          </a:p>
        </p:txBody>
      </p:sp>
      <p:sp>
        <p:nvSpPr>
          <p:cNvPr id="3" name="Content Placeholder 2">
            <a:extLst>
              <a:ext uri="{FF2B5EF4-FFF2-40B4-BE49-F238E27FC236}">
                <a16:creationId xmlns:a16="http://schemas.microsoft.com/office/drawing/2014/main" id="{F18CC132-CCC6-56CF-0F04-B2821E7777C6}"/>
              </a:ext>
            </a:extLst>
          </p:cNvPr>
          <p:cNvSpPr>
            <a:spLocks noGrp="1"/>
          </p:cNvSpPr>
          <p:nvPr>
            <p:ph idx="1"/>
          </p:nvPr>
        </p:nvSpPr>
        <p:spPr/>
        <p:txBody>
          <a:bodyPr>
            <a:normAutofit/>
          </a:bodyPr>
          <a:lstStyle/>
          <a:p>
            <a:r>
              <a:rPr lang="en-US" dirty="0"/>
              <a:t>When searching in Splunk first you have to specify an index to search data from. </a:t>
            </a:r>
          </a:p>
          <a:p>
            <a:r>
              <a:rPr lang="en-US" dirty="0"/>
              <a:t>It is common practice to specify an index to refine your search when more than one index exist, this also reduces demand on the SIEM.</a:t>
            </a:r>
          </a:p>
          <a:p>
            <a:pPr marL="0" indent="0">
              <a:buNone/>
            </a:pPr>
            <a:endParaRPr lang="en-US" dirty="0"/>
          </a:p>
          <a:p>
            <a:pPr marL="0" indent="0">
              <a:buNone/>
            </a:pPr>
            <a:r>
              <a:rPr lang="en-US" dirty="0" err="1"/>
              <a:t>i.e</a:t>
            </a:r>
            <a:r>
              <a:rPr lang="en-US" dirty="0"/>
              <a:t> </a:t>
            </a:r>
            <a:r>
              <a:rPr lang="en-AU" b="1" dirty="0"/>
              <a:t>index=“host” </a:t>
            </a:r>
            <a:r>
              <a:rPr lang="en-AU" dirty="0"/>
              <a:t>will return all data within the </a:t>
            </a:r>
            <a:r>
              <a:rPr lang="en-AU" b="1" dirty="0"/>
              <a:t>host</a:t>
            </a:r>
            <a:r>
              <a:rPr lang="en-AU" dirty="0"/>
              <a:t> index.</a:t>
            </a:r>
            <a:endParaRPr lang="en-US" dirty="0"/>
          </a:p>
        </p:txBody>
      </p:sp>
    </p:spTree>
    <p:extLst>
      <p:ext uri="{BB962C8B-B14F-4D97-AF65-F5344CB8AC3E}">
        <p14:creationId xmlns:p14="http://schemas.microsoft.com/office/powerpoint/2010/main" val="3906709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1FE55-42D4-F665-C5E9-C2F9ADE71D7C}"/>
              </a:ext>
            </a:extLst>
          </p:cNvPr>
          <p:cNvSpPr>
            <a:spLocks noGrp="1"/>
          </p:cNvSpPr>
          <p:nvPr>
            <p:ph type="title"/>
          </p:nvPr>
        </p:nvSpPr>
        <p:spPr/>
        <p:txBody>
          <a:bodyPr/>
          <a:lstStyle/>
          <a:p>
            <a:r>
              <a:rPr lang="en-US" dirty="0"/>
              <a:t>Searching in Splunk - Fields</a:t>
            </a:r>
            <a:endParaRPr lang="en-AU" dirty="0"/>
          </a:p>
        </p:txBody>
      </p:sp>
      <p:sp>
        <p:nvSpPr>
          <p:cNvPr id="3" name="Content Placeholder 2">
            <a:extLst>
              <a:ext uri="{FF2B5EF4-FFF2-40B4-BE49-F238E27FC236}">
                <a16:creationId xmlns:a16="http://schemas.microsoft.com/office/drawing/2014/main" id="{EDF2F1B4-F7C5-C439-22FF-D1C9BD6F479E}"/>
              </a:ext>
            </a:extLst>
          </p:cNvPr>
          <p:cNvSpPr>
            <a:spLocks noGrp="1"/>
          </p:cNvSpPr>
          <p:nvPr>
            <p:ph idx="1"/>
          </p:nvPr>
        </p:nvSpPr>
        <p:spPr/>
        <p:txBody>
          <a:bodyPr/>
          <a:lstStyle/>
          <a:p>
            <a:r>
              <a:rPr lang="en-US" dirty="0"/>
              <a:t>Fields allow searching, filtering, and analyzing data more efficiently &amp; effectively.</a:t>
            </a:r>
            <a:endParaRPr lang="en-AU" dirty="0"/>
          </a:p>
          <a:p>
            <a:r>
              <a:rPr lang="en-AU" dirty="0"/>
              <a:t>Can think of fields like variables</a:t>
            </a:r>
          </a:p>
          <a:p>
            <a:endParaRPr lang="en-AU" dirty="0"/>
          </a:p>
          <a:p>
            <a:pPr marL="0" indent="0">
              <a:buNone/>
            </a:pPr>
            <a:endParaRPr lang="en-AU" dirty="0"/>
          </a:p>
        </p:txBody>
      </p:sp>
      <p:pic>
        <p:nvPicPr>
          <p:cNvPr id="5" name="Picture 4">
            <a:extLst>
              <a:ext uri="{FF2B5EF4-FFF2-40B4-BE49-F238E27FC236}">
                <a16:creationId xmlns:a16="http://schemas.microsoft.com/office/drawing/2014/main" id="{D6480F60-DDE9-3E10-1E17-67BEC3FEB040}"/>
              </a:ext>
            </a:extLst>
          </p:cNvPr>
          <p:cNvPicPr>
            <a:picLocks noChangeAspect="1"/>
          </p:cNvPicPr>
          <p:nvPr/>
        </p:nvPicPr>
        <p:blipFill>
          <a:blip r:embed="rId3"/>
          <a:stretch>
            <a:fillRect/>
          </a:stretch>
        </p:blipFill>
        <p:spPr>
          <a:xfrm>
            <a:off x="1286436" y="3132707"/>
            <a:ext cx="9022976" cy="3564853"/>
          </a:xfrm>
          <a:prstGeom prst="rect">
            <a:avLst/>
          </a:prstGeom>
          <a:ln w="19050">
            <a:solidFill>
              <a:schemeClr val="tx1"/>
            </a:solidFill>
          </a:ln>
        </p:spPr>
      </p:pic>
    </p:spTree>
    <p:extLst>
      <p:ext uri="{BB962C8B-B14F-4D97-AF65-F5344CB8AC3E}">
        <p14:creationId xmlns:p14="http://schemas.microsoft.com/office/powerpoint/2010/main" val="4248086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FB63-4269-E08B-1BE6-87FFCD661D35}"/>
              </a:ext>
            </a:extLst>
          </p:cNvPr>
          <p:cNvSpPr>
            <a:spLocks noGrp="1"/>
          </p:cNvSpPr>
          <p:nvPr>
            <p:ph type="title"/>
          </p:nvPr>
        </p:nvSpPr>
        <p:spPr/>
        <p:txBody>
          <a:bodyPr/>
          <a:lstStyle/>
          <a:p>
            <a:r>
              <a:rPr lang="en-AU" dirty="0"/>
              <a:t>Demo Searches</a:t>
            </a:r>
          </a:p>
        </p:txBody>
      </p:sp>
      <p:sp>
        <p:nvSpPr>
          <p:cNvPr id="3" name="Content Placeholder 2">
            <a:extLst>
              <a:ext uri="{FF2B5EF4-FFF2-40B4-BE49-F238E27FC236}">
                <a16:creationId xmlns:a16="http://schemas.microsoft.com/office/drawing/2014/main" id="{576F6114-8B65-4323-ED14-560AEED52836}"/>
              </a:ext>
            </a:extLst>
          </p:cNvPr>
          <p:cNvSpPr>
            <a:spLocks noGrp="1"/>
          </p:cNvSpPr>
          <p:nvPr>
            <p:ph idx="1"/>
          </p:nvPr>
        </p:nvSpPr>
        <p:spPr>
          <a:xfrm>
            <a:off x="838200" y="1825624"/>
            <a:ext cx="10515600" cy="4731929"/>
          </a:xfrm>
        </p:spPr>
        <p:txBody>
          <a:bodyPr/>
          <a:lstStyle/>
          <a:p>
            <a:r>
              <a:rPr lang="en-AU" dirty="0"/>
              <a:t>stats count by source IP</a:t>
            </a:r>
          </a:p>
          <a:p>
            <a:endParaRPr lang="en-AU" dirty="0"/>
          </a:p>
          <a:p>
            <a:pPr marL="0" indent="0">
              <a:buNone/>
            </a:pPr>
            <a:r>
              <a:rPr lang="en-AU" dirty="0"/>
              <a:t> </a:t>
            </a:r>
          </a:p>
          <a:p>
            <a:r>
              <a:rPr lang="en-AU" dirty="0"/>
              <a:t>stats count by with source IP and destination IP</a:t>
            </a:r>
          </a:p>
          <a:p>
            <a:endParaRPr lang="en-AU" dirty="0"/>
          </a:p>
          <a:p>
            <a:endParaRPr lang="en-AU" dirty="0"/>
          </a:p>
          <a:p>
            <a:r>
              <a:rPr lang="en-AU" dirty="0"/>
              <a:t>latest 5 events of a source type</a:t>
            </a:r>
          </a:p>
          <a:p>
            <a:endParaRPr lang="en-AU" dirty="0"/>
          </a:p>
          <a:p>
            <a:endParaRPr lang="en-AU" dirty="0"/>
          </a:p>
        </p:txBody>
      </p:sp>
      <p:pic>
        <p:nvPicPr>
          <p:cNvPr id="4" name="Picture 3">
            <a:extLst>
              <a:ext uri="{FF2B5EF4-FFF2-40B4-BE49-F238E27FC236}">
                <a16:creationId xmlns:a16="http://schemas.microsoft.com/office/drawing/2014/main" id="{AB2711A1-BB80-FF87-F869-4DCFD09C2E3B}"/>
              </a:ext>
            </a:extLst>
          </p:cNvPr>
          <p:cNvPicPr>
            <a:picLocks noChangeAspect="1"/>
          </p:cNvPicPr>
          <p:nvPr/>
        </p:nvPicPr>
        <p:blipFill>
          <a:blip r:embed="rId3"/>
          <a:stretch>
            <a:fillRect/>
          </a:stretch>
        </p:blipFill>
        <p:spPr>
          <a:xfrm>
            <a:off x="1205018" y="2413288"/>
            <a:ext cx="5731510" cy="679450"/>
          </a:xfrm>
          <a:prstGeom prst="rect">
            <a:avLst/>
          </a:prstGeom>
          <a:ln w="25400">
            <a:solidFill>
              <a:schemeClr val="tx1"/>
            </a:solidFill>
          </a:ln>
        </p:spPr>
      </p:pic>
      <p:pic>
        <p:nvPicPr>
          <p:cNvPr id="5" name="Picture 4">
            <a:extLst>
              <a:ext uri="{FF2B5EF4-FFF2-40B4-BE49-F238E27FC236}">
                <a16:creationId xmlns:a16="http://schemas.microsoft.com/office/drawing/2014/main" id="{12539ED6-A2DD-3F4B-1394-5FD40C4FAA9E}"/>
              </a:ext>
            </a:extLst>
          </p:cNvPr>
          <p:cNvPicPr>
            <a:picLocks noChangeAspect="1"/>
          </p:cNvPicPr>
          <p:nvPr/>
        </p:nvPicPr>
        <p:blipFill>
          <a:blip r:embed="rId4"/>
          <a:stretch>
            <a:fillRect/>
          </a:stretch>
        </p:blipFill>
        <p:spPr>
          <a:xfrm>
            <a:off x="1205018" y="4000787"/>
            <a:ext cx="5731510" cy="602615"/>
          </a:xfrm>
          <a:prstGeom prst="rect">
            <a:avLst/>
          </a:prstGeom>
          <a:ln w="25400">
            <a:solidFill>
              <a:schemeClr val="tx1"/>
            </a:solidFill>
          </a:ln>
        </p:spPr>
      </p:pic>
      <p:pic>
        <p:nvPicPr>
          <p:cNvPr id="6" name="Picture 5">
            <a:extLst>
              <a:ext uri="{FF2B5EF4-FFF2-40B4-BE49-F238E27FC236}">
                <a16:creationId xmlns:a16="http://schemas.microsoft.com/office/drawing/2014/main" id="{014155BE-BA73-0D44-AAEE-24A4F22D849B}"/>
              </a:ext>
            </a:extLst>
          </p:cNvPr>
          <p:cNvPicPr>
            <a:picLocks noChangeAspect="1"/>
          </p:cNvPicPr>
          <p:nvPr/>
        </p:nvPicPr>
        <p:blipFill>
          <a:blip r:embed="rId5"/>
          <a:stretch>
            <a:fillRect/>
          </a:stretch>
        </p:blipFill>
        <p:spPr>
          <a:xfrm>
            <a:off x="1205018" y="5402837"/>
            <a:ext cx="4413945" cy="1090038"/>
          </a:xfrm>
          <a:prstGeom prst="rect">
            <a:avLst/>
          </a:prstGeom>
          <a:ln w="25400">
            <a:solidFill>
              <a:schemeClr val="tx1"/>
            </a:solidFill>
          </a:ln>
        </p:spPr>
      </p:pic>
    </p:spTree>
    <p:extLst>
      <p:ext uri="{BB962C8B-B14F-4D97-AF65-F5344CB8AC3E}">
        <p14:creationId xmlns:p14="http://schemas.microsoft.com/office/powerpoint/2010/main" val="3290940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9223-8C60-72F1-74F3-EB0D74064A42}"/>
              </a:ext>
            </a:extLst>
          </p:cNvPr>
          <p:cNvSpPr>
            <a:spLocks noGrp="1"/>
          </p:cNvSpPr>
          <p:nvPr>
            <p:ph type="title"/>
          </p:nvPr>
        </p:nvSpPr>
        <p:spPr/>
        <p:txBody>
          <a:bodyPr/>
          <a:lstStyle/>
          <a:p>
            <a:r>
              <a:rPr lang="en-US" dirty="0"/>
              <a:t>Searching in Splunk - </a:t>
            </a:r>
            <a:r>
              <a:rPr lang="en-AU" dirty="0"/>
              <a:t>Tables</a:t>
            </a:r>
          </a:p>
        </p:txBody>
      </p:sp>
      <p:sp>
        <p:nvSpPr>
          <p:cNvPr id="3" name="Content Placeholder 2">
            <a:extLst>
              <a:ext uri="{FF2B5EF4-FFF2-40B4-BE49-F238E27FC236}">
                <a16:creationId xmlns:a16="http://schemas.microsoft.com/office/drawing/2014/main" id="{BC815DDB-ED52-D88A-9A32-FC81EB36DFD5}"/>
              </a:ext>
            </a:extLst>
          </p:cNvPr>
          <p:cNvSpPr>
            <a:spLocks noGrp="1"/>
          </p:cNvSpPr>
          <p:nvPr>
            <p:ph idx="1"/>
          </p:nvPr>
        </p:nvSpPr>
        <p:spPr/>
        <p:txBody>
          <a:bodyPr/>
          <a:lstStyle/>
          <a:p>
            <a:r>
              <a:rPr lang="en-AU" dirty="0"/>
              <a:t>Normal source types have too many fields to analyse at once. </a:t>
            </a:r>
          </a:p>
          <a:p>
            <a:pPr marL="0" indent="0">
              <a:buNone/>
            </a:pPr>
            <a:endParaRPr lang="en-AU" dirty="0"/>
          </a:p>
          <a:p>
            <a:r>
              <a:rPr lang="en-AU" dirty="0"/>
              <a:t>With the table function you are able to select which fields you want to view.</a:t>
            </a:r>
          </a:p>
          <a:p>
            <a:pPr marL="0" indent="0">
              <a:buNone/>
            </a:pPr>
            <a:endParaRPr lang="en-AU" dirty="0"/>
          </a:p>
          <a:p>
            <a:r>
              <a:rPr lang="en-AU" dirty="0"/>
              <a:t>Helpful when generating dashboards as you can select only the important fields.</a:t>
            </a:r>
          </a:p>
        </p:txBody>
      </p:sp>
    </p:spTree>
    <p:extLst>
      <p:ext uri="{BB962C8B-B14F-4D97-AF65-F5344CB8AC3E}">
        <p14:creationId xmlns:p14="http://schemas.microsoft.com/office/powerpoint/2010/main" val="2372391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AE698-46F7-3E5F-F52A-65B076596BD7}"/>
              </a:ext>
            </a:extLst>
          </p:cNvPr>
          <p:cNvSpPr>
            <a:spLocks noGrp="1"/>
          </p:cNvSpPr>
          <p:nvPr>
            <p:ph type="title"/>
          </p:nvPr>
        </p:nvSpPr>
        <p:spPr/>
        <p:txBody>
          <a:bodyPr/>
          <a:lstStyle/>
          <a:p>
            <a:r>
              <a:rPr lang="en-US" dirty="0"/>
              <a:t>Logic Operators in Splunk </a:t>
            </a:r>
            <a:endParaRPr lang="en-AU" dirty="0"/>
          </a:p>
        </p:txBody>
      </p:sp>
      <p:sp>
        <p:nvSpPr>
          <p:cNvPr id="3" name="Content Placeholder 2">
            <a:extLst>
              <a:ext uri="{FF2B5EF4-FFF2-40B4-BE49-F238E27FC236}">
                <a16:creationId xmlns:a16="http://schemas.microsoft.com/office/drawing/2014/main" id="{37FA90E8-A62A-85F1-C850-33791870187D}"/>
              </a:ext>
            </a:extLst>
          </p:cNvPr>
          <p:cNvSpPr>
            <a:spLocks noGrp="1"/>
          </p:cNvSpPr>
          <p:nvPr>
            <p:ph idx="1"/>
          </p:nvPr>
        </p:nvSpPr>
        <p:spPr/>
        <p:txBody>
          <a:bodyPr>
            <a:normAutofit/>
          </a:bodyPr>
          <a:lstStyle/>
          <a:p>
            <a:r>
              <a:rPr lang="en-US" dirty="0"/>
              <a:t>Logical operators are used in Splunk searches to combine or refine conditions. They make searches more precise and enable more advanced filtering logic.</a:t>
            </a:r>
          </a:p>
          <a:p>
            <a:r>
              <a:rPr lang="en-US" dirty="0"/>
              <a:t>Common logical operators include AND, OR, and NOT.</a:t>
            </a:r>
          </a:p>
          <a:p>
            <a:r>
              <a:rPr lang="en-US" b="1" dirty="0"/>
              <a:t>AND</a:t>
            </a:r>
            <a:r>
              <a:rPr lang="en-US" dirty="0"/>
              <a:t> requires all conditions to be true (e.g., status=200 AND method=POST)</a:t>
            </a:r>
          </a:p>
          <a:p>
            <a:r>
              <a:rPr lang="en-US" b="1" dirty="0"/>
              <a:t>OR</a:t>
            </a:r>
            <a:r>
              <a:rPr lang="en-US" dirty="0"/>
              <a:t> allows any one of multiple conditions to be true (e.g., status=200 OR status=404)</a:t>
            </a:r>
          </a:p>
          <a:p>
            <a:r>
              <a:rPr lang="en-US" b="1" dirty="0"/>
              <a:t>NOT</a:t>
            </a:r>
            <a:r>
              <a:rPr lang="en-US" dirty="0"/>
              <a:t> excludes certain events from results (e.g., NOT status=200).</a:t>
            </a:r>
          </a:p>
        </p:txBody>
      </p:sp>
    </p:spTree>
    <p:extLst>
      <p:ext uri="{BB962C8B-B14F-4D97-AF65-F5344CB8AC3E}">
        <p14:creationId xmlns:p14="http://schemas.microsoft.com/office/powerpoint/2010/main" val="1396224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80424-4DA8-E140-05EC-2213F3957420}"/>
              </a:ext>
            </a:extLst>
          </p:cNvPr>
          <p:cNvSpPr>
            <a:spLocks noGrp="1"/>
          </p:cNvSpPr>
          <p:nvPr>
            <p:ph type="title"/>
          </p:nvPr>
        </p:nvSpPr>
        <p:spPr/>
        <p:txBody>
          <a:bodyPr/>
          <a:lstStyle/>
          <a:p>
            <a:r>
              <a:rPr lang="en-AU" dirty="0"/>
              <a:t>Example Logical Operators</a:t>
            </a:r>
          </a:p>
        </p:txBody>
      </p:sp>
      <p:sp>
        <p:nvSpPr>
          <p:cNvPr id="3" name="Content Placeholder 2">
            <a:extLst>
              <a:ext uri="{FF2B5EF4-FFF2-40B4-BE49-F238E27FC236}">
                <a16:creationId xmlns:a16="http://schemas.microsoft.com/office/drawing/2014/main" id="{E3568E8A-F5B9-ADC2-56F8-9163DEF50641}"/>
              </a:ext>
            </a:extLst>
          </p:cNvPr>
          <p:cNvSpPr>
            <a:spLocks noGrp="1"/>
          </p:cNvSpPr>
          <p:nvPr>
            <p:ph idx="1"/>
          </p:nvPr>
        </p:nvSpPr>
        <p:spPr/>
        <p:txBody>
          <a:bodyPr/>
          <a:lstStyle/>
          <a:p>
            <a:r>
              <a:rPr lang="en-AU" dirty="0"/>
              <a:t>Show any prefetch file which starts WU but not the string WUACLT.EXE… </a:t>
            </a:r>
          </a:p>
          <a:p>
            <a:endParaRPr lang="en-AU" dirty="0"/>
          </a:p>
          <a:p>
            <a:endParaRPr lang="en-AU" dirty="0"/>
          </a:p>
        </p:txBody>
      </p:sp>
      <p:pic>
        <p:nvPicPr>
          <p:cNvPr id="4" name="Picture 3">
            <a:extLst>
              <a:ext uri="{FF2B5EF4-FFF2-40B4-BE49-F238E27FC236}">
                <a16:creationId xmlns:a16="http://schemas.microsoft.com/office/drawing/2014/main" id="{E7216382-AEA9-CD6A-F502-CA06A160BB06}"/>
              </a:ext>
            </a:extLst>
          </p:cNvPr>
          <p:cNvPicPr>
            <a:picLocks noChangeAspect="1"/>
          </p:cNvPicPr>
          <p:nvPr/>
        </p:nvPicPr>
        <p:blipFill>
          <a:blip r:embed="rId3"/>
          <a:stretch>
            <a:fillRect/>
          </a:stretch>
        </p:blipFill>
        <p:spPr>
          <a:xfrm>
            <a:off x="838200" y="3493634"/>
            <a:ext cx="9223238" cy="865490"/>
          </a:xfrm>
          <a:prstGeom prst="rect">
            <a:avLst/>
          </a:prstGeom>
          <a:ln w="25400">
            <a:solidFill>
              <a:schemeClr val="tx1"/>
            </a:solidFill>
          </a:ln>
        </p:spPr>
      </p:pic>
    </p:spTree>
    <p:extLst>
      <p:ext uri="{BB962C8B-B14F-4D97-AF65-F5344CB8AC3E}">
        <p14:creationId xmlns:p14="http://schemas.microsoft.com/office/powerpoint/2010/main" val="3272005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C424B-4F60-03EA-57A9-C4318A90D1A8}"/>
              </a:ext>
            </a:extLst>
          </p:cNvPr>
          <p:cNvSpPr>
            <a:spLocks noGrp="1"/>
          </p:cNvSpPr>
          <p:nvPr>
            <p:ph type="title"/>
          </p:nvPr>
        </p:nvSpPr>
        <p:spPr/>
        <p:txBody>
          <a:bodyPr/>
          <a:lstStyle/>
          <a:p>
            <a:r>
              <a:rPr lang="en-AU" dirty="0"/>
              <a:t>Regex in </a:t>
            </a:r>
            <a:r>
              <a:rPr lang="en-AU" dirty="0" err="1"/>
              <a:t>splunk</a:t>
            </a:r>
            <a:endParaRPr lang="en-AU" dirty="0"/>
          </a:p>
        </p:txBody>
      </p:sp>
      <p:sp>
        <p:nvSpPr>
          <p:cNvPr id="3" name="Content Placeholder 2">
            <a:extLst>
              <a:ext uri="{FF2B5EF4-FFF2-40B4-BE49-F238E27FC236}">
                <a16:creationId xmlns:a16="http://schemas.microsoft.com/office/drawing/2014/main" id="{0BE113D1-625D-E148-8A2F-8E8922728008}"/>
              </a:ext>
            </a:extLst>
          </p:cNvPr>
          <p:cNvSpPr>
            <a:spLocks noGrp="1"/>
          </p:cNvSpPr>
          <p:nvPr>
            <p:ph idx="1"/>
          </p:nvPr>
        </p:nvSpPr>
        <p:spPr/>
        <p:txBody>
          <a:bodyPr/>
          <a:lstStyle/>
          <a:p>
            <a:pPr marL="0" indent="0">
              <a:buNone/>
            </a:pPr>
            <a:r>
              <a:rPr lang="en-AU" dirty="0"/>
              <a:t>Splunk allows you to extract your own fields through the use of regex.</a:t>
            </a:r>
          </a:p>
          <a:p>
            <a:pPr marL="0" indent="0">
              <a:buNone/>
            </a:pPr>
            <a:r>
              <a:rPr lang="en-AU" dirty="0"/>
              <a:t>This can be useful if you want a field to contain specific events </a:t>
            </a:r>
            <a:r>
              <a:rPr lang="en-AU" dirty="0" err="1"/>
              <a:t>i.e</a:t>
            </a:r>
            <a:r>
              <a:rPr lang="en-AU" dirty="0"/>
              <a:t> usernames but one doesn’t exist currently. </a:t>
            </a:r>
          </a:p>
          <a:p>
            <a:endParaRPr lang="en-AU" dirty="0"/>
          </a:p>
          <a:p>
            <a:pPr marL="0" indent="0">
              <a:buNone/>
            </a:pPr>
            <a:endParaRPr lang="en-AU" dirty="0"/>
          </a:p>
        </p:txBody>
      </p:sp>
    </p:spTree>
    <p:extLst>
      <p:ext uri="{BB962C8B-B14F-4D97-AF65-F5344CB8AC3E}">
        <p14:creationId xmlns:p14="http://schemas.microsoft.com/office/powerpoint/2010/main" val="2712621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1D264-8733-0EF3-C8CC-B7A375921B77}"/>
              </a:ext>
            </a:extLst>
          </p:cNvPr>
          <p:cNvSpPr>
            <a:spLocks noGrp="1"/>
          </p:cNvSpPr>
          <p:nvPr>
            <p:ph type="title"/>
          </p:nvPr>
        </p:nvSpPr>
        <p:spPr/>
        <p:txBody>
          <a:bodyPr/>
          <a:lstStyle/>
          <a:p>
            <a:r>
              <a:rPr lang="en-AU" dirty="0"/>
              <a:t>Baselining</a:t>
            </a:r>
          </a:p>
        </p:txBody>
      </p:sp>
      <p:sp>
        <p:nvSpPr>
          <p:cNvPr id="3" name="Content Placeholder 2">
            <a:extLst>
              <a:ext uri="{FF2B5EF4-FFF2-40B4-BE49-F238E27FC236}">
                <a16:creationId xmlns:a16="http://schemas.microsoft.com/office/drawing/2014/main" id="{B92AC551-11EA-69E8-93ED-42FC9CDCC07B}"/>
              </a:ext>
            </a:extLst>
          </p:cNvPr>
          <p:cNvSpPr>
            <a:spLocks noGrp="1"/>
          </p:cNvSpPr>
          <p:nvPr>
            <p:ph idx="1"/>
          </p:nvPr>
        </p:nvSpPr>
        <p:spPr/>
        <p:txBody>
          <a:bodyPr/>
          <a:lstStyle/>
          <a:p>
            <a:r>
              <a:rPr lang="en-AU" dirty="0"/>
              <a:t>When you setup in a network the first step you conduct is usually a baseline to determine what is and isn’t normal.</a:t>
            </a:r>
          </a:p>
          <a:p>
            <a:pPr marL="0" indent="0">
              <a:buNone/>
            </a:pPr>
            <a:endParaRPr lang="en-AU" dirty="0"/>
          </a:p>
          <a:p>
            <a:r>
              <a:rPr lang="en-AU" dirty="0"/>
              <a:t>A common was you can do this by making CSV of current data and for future searches you compare the output to the original baseline CSV, any new unique events will flag it. </a:t>
            </a:r>
          </a:p>
        </p:txBody>
      </p:sp>
    </p:spTree>
    <p:extLst>
      <p:ext uri="{BB962C8B-B14F-4D97-AF65-F5344CB8AC3E}">
        <p14:creationId xmlns:p14="http://schemas.microsoft.com/office/powerpoint/2010/main" val="1719264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A6994-1E0E-48A5-9938-3C665347D46B}"/>
              </a:ext>
            </a:extLst>
          </p:cNvPr>
          <p:cNvSpPr>
            <a:spLocks noGrp="1"/>
          </p:cNvSpPr>
          <p:nvPr>
            <p:ph type="title"/>
          </p:nvPr>
        </p:nvSpPr>
        <p:spPr/>
        <p:txBody>
          <a:bodyPr/>
          <a:lstStyle/>
          <a:p>
            <a:r>
              <a:rPr lang="en-US" dirty="0"/>
              <a:t>Dashboarding in Splunk</a:t>
            </a:r>
            <a:endParaRPr lang="en-AU" dirty="0"/>
          </a:p>
        </p:txBody>
      </p:sp>
      <p:sp>
        <p:nvSpPr>
          <p:cNvPr id="3" name="Content Placeholder 2">
            <a:extLst>
              <a:ext uri="{FF2B5EF4-FFF2-40B4-BE49-F238E27FC236}">
                <a16:creationId xmlns:a16="http://schemas.microsoft.com/office/drawing/2014/main" id="{28D6F99C-145C-D717-1968-A1A606F3CD28}"/>
              </a:ext>
            </a:extLst>
          </p:cNvPr>
          <p:cNvSpPr>
            <a:spLocks noGrp="1"/>
          </p:cNvSpPr>
          <p:nvPr>
            <p:ph idx="1"/>
          </p:nvPr>
        </p:nvSpPr>
        <p:spPr/>
        <p:txBody>
          <a:bodyPr>
            <a:normAutofit/>
          </a:bodyPr>
          <a:lstStyle/>
          <a:p>
            <a:r>
              <a:rPr lang="en-US" dirty="0"/>
              <a:t>Dashboards are commonly used to display critical information quickly and clearly.</a:t>
            </a:r>
          </a:p>
          <a:p>
            <a:r>
              <a:rPr lang="en-US" dirty="0"/>
              <a:t>Three main uses for dashboards in </a:t>
            </a:r>
            <a:r>
              <a:rPr lang="en-US" dirty="0" err="1"/>
              <a:t>splunk</a:t>
            </a:r>
            <a:endParaRPr lang="en-US" dirty="0"/>
          </a:p>
          <a:p>
            <a:pPr>
              <a:buFontTx/>
              <a:buChar char="-"/>
            </a:pPr>
            <a:r>
              <a:rPr lang="en-US" dirty="0"/>
              <a:t>Baseline </a:t>
            </a:r>
          </a:p>
          <a:p>
            <a:pPr>
              <a:buFontTx/>
              <a:buChar char="-"/>
            </a:pPr>
            <a:r>
              <a:rPr lang="en-US" dirty="0"/>
              <a:t>Drilldown </a:t>
            </a:r>
          </a:p>
          <a:p>
            <a:pPr>
              <a:buFontTx/>
              <a:buChar char="-"/>
            </a:pPr>
            <a:r>
              <a:rPr lang="en-US" dirty="0"/>
              <a:t>Alerts</a:t>
            </a:r>
            <a:endParaRPr lang="en-AU" dirty="0"/>
          </a:p>
        </p:txBody>
      </p:sp>
    </p:spTree>
    <p:extLst>
      <p:ext uri="{BB962C8B-B14F-4D97-AF65-F5344CB8AC3E}">
        <p14:creationId xmlns:p14="http://schemas.microsoft.com/office/powerpoint/2010/main" val="2918504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7886</TotalTime>
  <Words>723</Words>
  <Application>Microsoft Office PowerPoint</Application>
  <PresentationFormat>Widescreen</PresentationFormat>
  <Paragraphs>91</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Splunk</vt:lpstr>
      <vt:lpstr>What is Splunk</vt:lpstr>
      <vt:lpstr>Searching in Splunk </vt:lpstr>
      <vt:lpstr>Searching in Splunk - Fields</vt:lpstr>
      <vt:lpstr>Demo Searches</vt:lpstr>
      <vt:lpstr>Searching in Splunk - Tables</vt:lpstr>
      <vt:lpstr>Logic Operators in Splunk </vt:lpstr>
      <vt:lpstr>Example Logical Operators</vt:lpstr>
      <vt:lpstr>Regex in splunk</vt:lpstr>
      <vt:lpstr>Baselining</vt:lpstr>
      <vt:lpstr>Dashboarding in Splunk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Ariraam Ramanan</dc:creator>
  <cp:lastModifiedBy>Ariraam Ramanan</cp:lastModifiedBy>
  <cp:revision>11</cp:revision>
  <dcterms:created xsi:type="dcterms:W3CDTF">2026-01-12T22:50:30Z</dcterms:created>
  <dcterms:modified xsi:type="dcterms:W3CDTF">2026-04-15T03:51:04Z</dcterms:modified>
</cp:coreProperties>
</file>